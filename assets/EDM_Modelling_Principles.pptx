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3200"/>
            </a:pPr>
            <a:r>
              <a:t>EDM Modelling Approach</a:t>
            </a:r>
          </a:p>
        </p:txBody>
      </p:sp>
      <p:sp>
        <p:nvSpPr>
          <p:cNvPr id="3" name="Subtitle 2"/>
          <p:cNvSpPr>
            <a:spLocks noGrp="1"/>
          </p:cNvSpPr>
          <p:nvPr>
            <p:ph type="subTitle" idx="1"/>
          </p:nvPr>
        </p:nvSpPr>
        <p:spPr/>
        <p:txBody>
          <a:bodyPr/>
          <a:lstStyle/>
          <a:p>
            <a:r>
              <a:t>Based on Len Silverston's Universal Data Modeling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1. Universal Patterns</a:t>
            </a:r>
          </a:p>
        </p:txBody>
      </p:sp>
      <p:sp>
        <p:nvSpPr>
          <p:cNvPr id="3" name="Content Placeholder 2"/>
          <p:cNvSpPr>
            <a:spLocks noGrp="1"/>
          </p:cNvSpPr>
          <p:nvPr>
            <p:ph idx="1"/>
          </p:nvPr>
        </p:nvSpPr>
        <p:spPr/>
        <p:txBody>
          <a:bodyPr/>
          <a:lstStyle/>
          <a:p>
            <a:r>
              <a:t>Universal Data Models provide proven, reusable data model patterns that can be applied across different industries and business contexts. Rather than building models from scratch, these patterns offer templates that have been refined through years of real-world implementation.</a:t>
            </a:r>
          </a:p>
          <a:p>
            <a:pPr lvl="1"/>
            <a:r>
              <a:t>**Key Benefits:**</a:t>
            </a:r>
          </a:p>
          <a:p>
            <a:pPr lvl="1"/>
            <a:r>
              <a:t>Reduces design time and errors</a:t>
            </a:r>
          </a:p>
          <a:p>
            <a:pPr lvl="1"/>
            <a:r>
              <a:t>Provides industry best practices</a:t>
            </a:r>
          </a:p>
          <a:p>
            <a:pPr lvl="1"/>
            <a:r>
              <a:t>Ensures consistency across systems</a:t>
            </a:r>
          </a:p>
          <a:p>
            <a:pPr lvl="1"/>
            <a:r>
              <a:t>Facilitates communication between business and technical teams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2. Industry Agnostic Design</a:t>
            </a:r>
          </a:p>
        </p:txBody>
      </p:sp>
      <p:sp>
        <p:nvSpPr>
          <p:cNvPr id="3" name="Content Placeholder 2"/>
          <p:cNvSpPr>
            <a:spLocks noGrp="1"/>
          </p:cNvSpPr>
          <p:nvPr>
            <p:ph idx="1"/>
          </p:nvPr>
        </p:nvSpPr>
        <p:spPr/>
        <p:txBody>
          <a:bodyPr/>
          <a:lstStyle/>
          <a:p>
            <a:r>
              <a:t>The patterns are designed to be **adapted across various industries**:</a:t>
            </a:r>
          </a:p>
          <a:p>
            <a:pPr lvl="1"/>
            <a:r>
              <a:t>Financial Services</a:t>
            </a:r>
          </a:p>
          <a:p>
            <a:pPr lvl="1"/>
            <a:r>
              <a:t>Healthcare</a:t>
            </a:r>
          </a:p>
          <a:p>
            <a:pPr lvl="1"/>
            <a:r>
              <a:t>Manufacturing</a:t>
            </a:r>
          </a:p>
          <a:p>
            <a:pPr lvl="1"/>
            <a:r>
              <a:t>Retail</a:t>
            </a:r>
          </a:p>
          <a:p>
            <a:pPr lvl="1"/>
            <a:r>
              <a:t>Telecommunications</a:t>
            </a:r>
          </a:p>
          <a:p>
            <a:pPr lvl="1"/>
            <a:r>
              <a:t>Government</a:t>
            </a:r>
          </a:p>
          <a:p>
            <a:pPr lvl="1"/>
            <a:r>
              <a:t>Each industry can extend and specialize the core patterns while maintaining the underlying structure.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3. Generalization and Abstraction</a:t>
            </a:r>
          </a:p>
        </p:txBody>
      </p:sp>
      <p:sp>
        <p:nvSpPr>
          <p:cNvPr id="3" name="Content Placeholder 2"/>
          <p:cNvSpPr>
            <a:spLocks noGrp="1"/>
          </p:cNvSpPr>
          <p:nvPr>
            <p:ph idx="1"/>
          </p:nvPr>
        </p:nvSpPr>
        <p:spPr/>
        <p:txBody>
          <a:bodyPr/>
          <a:lstStyle/>
          <a:p>
            <a:r>
              <a:t>Silverston's approach uses **entity supertypes and subtypes** to create flexible, extensible models.</a:t>
            </a:r>
          </a:p>
          <a:p>
            <a:pPr lvl="1"/>
            <a:r>
              <a:t>**Principles:**</a:t>
            </a:r>
          </a:p>
          <a:p>
            <a:pPr lvl="1"/>
            <a:r>
              <a:t>Create generic, high-level entities (supertypes) that capture common attributes</a:t>
            </a:r>
          </a:p>
          <a:p>
            <a:pPr lvl="1"/>
            <a:r>
              <a:t>Use subtypes for specialization when needed</a:t>
            </a:r>
          </a:p>
          <a:p>
            <a:pPr lvl="1"/>
            <a:r>
              <a:t>Apply proper inheritance rules</a:t>
            </a:r>
          </a:p>
          <a:p>
            <a:pPr lvl="1"/>
            <a:r>
              <a:t>Maintain balance between flexibility and complexity</a:t>
            </a:r>
          </a:p>
          <a:p>
            <a:pPr lvl="1"/>
            <a:r>
              <a:t>**Example:**</a:t>
            </a:r>
          </a:p>
          <a:p>
            <a:pPr lvl="1"/>
            <a:r>
              <a:t>```</a:t>
            </a:r>
          </a:p>
          <a:p>
            <a:pPr lvl="1"/>
            <a:r>
              <a:t>Product (supertype)</a:t>
            </a:r>
          </a:p>
          <a:p>
            <a:pPr lvl="1"/>
            <a:r>
              <a:t>├─ Good (physical products)</a:t>
            </a:r>
          </a:p>
          <a:p>
            <a:pPr lvl="1"/>
            <a:r>
              <a:t>├─ Service (intangible offerings)</a:t>
            </a:r>
          </a:p>
          <a:p>
            <a:pPr lvl="1"/>
            <a:r>
              <a:t>└─ Digital Product (downloadable content)</a:t>
            </a:r>
          </a:p>
          <a:p>
            <a:pPr lvl="1"/>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4 Data Normalization with Flexibility</a:t>
            </a:r>
          </a:p>
        </p:txBody>
      </p:sp>
      <p:sp>
        <p:nvSpPr>
          <p:cNvPr id="3" name="Content Placeholder 2"/>
          <p:cNvSpPr>
            <a:spLocks noGrp="1"/>
          </p:cNvSpPr>
          <p:nvPr>
            <p:ph idx="1"/>
          </p:nvPr>
        </p:nvSpPr>
        <p:spPr/>
        <p:txBody>
          <a:bodyPr/>
          <a:lstStyle/>
          <a:p>
            <a:r>
              <a:t>While following normalization principles (typically 3NF or higher), the models maintain flexibility for adaptation.</a:t>
            </a:r>
          </a:p>
          <a:p>
            <a:pPr lvl="1"/>
            <a:r>
              <a:t>**Balance:**</a:t>
            </a:r>
          </a:p>
          <a:p>
            <a:pPr lvl="1"/>
            <a:r>
              <a:t>**Normalized**: Reduces redundancy and maintains data integrity</a:t>
            </a:r>
          </a:p>
          <a:p>
            <a:pPr lvl="1"/>
            <a:r>
              <a:t>**Flexible**: Allows for extension and customization</a:t>
            </a:r>
          </a:p>
          <a:p>
            <a:pPr lvl="1"/>
            <a:r>
              <a:t>**Pragmatic**: Can be denormalized where performance requires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5. Temporal Patterns</a:t>
            </a:r>
          </a:p>
        </p:txBody>
      </p:sp>
      <p:sp>
        <p:nvSpPr>
          <p:cNvPr id="3" name="Content Placeholder 2"/>
          <p:cNvSpPr>
            <a:spLocks noGrp="1"/>
          </p:cNvSpPr>
          <p:nvPr>
            <p:ph idx="1"/>
          </p:nvPr>
        </p:nvSpPr>
        <p:spPr/>
        <p:txBody>
          <a:bodyPr/>
          <a:lstStyle/>
          <a:p>
            <a:r>
              <a:t>Universal Data Models emphasize proper handling of **time-dependent data** and historical tracking.</a:t>
            </a:r>
          </a:p>
          <a:p>
            <a:pPr lvl="1"/>
            <a:r>
              <a:t>**Techniques:**</a:t>
            </a:r>
          </a:p>
          <a:p>
            <a:pPr lvl="1"/>
            <a:r>
              <a:t>**Effective Dating**: Use `from_date` to track validity periods</a:t>
            </a:r>
          </a:p>
          <a:p>
            <a:pPr lvl="1"/>
            <a:r>
              <a:t>**Historical Tracking**: Maintain history of changes rather than overwriting data</a:t>
            </a:r>
          </a:p>
          <a:p>
            <a:pPr lvl="1"/>
            <a:r>
              <a:t>**Point-in-Time Queries**: Enable reconstruction of data as it existed at any moment</a:t>
            </a:r>
          </a:p>
          <a:p>
            <a:pPr lvl="1"/>
            <a:r>
              <a:t>**Version Control**: Track different versions of entities over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6. Type and Classification Patterns</a:t>
            </a:r>
          </a:p>
        </p:txBody>
      </p:sp>
      <p:sp>
        <p:nvSpPr>
          <p:cNvPr id="3" name="Content Placeholder 2"/>
          <p:cNvSpPr>
            <a:spLocks noGrp="1"/>
          </p:cNvSpPr>
          <p:nvPr>
            <p:ph idx="1"/>
          </p:nvPr>
        </p:nvSpPr>
        <p:spPr/>
        <p:txBody>
          <a:bodyPr/>
          <a:lstStyle/>
          <a:p>
            <a:r>
              <a:t>Rather than hard-coding categories, Silverston advocates for **flexible classification structures**.</a:t>
            </a:r>
          </a:p>
          <a:p>
            <a:pPr lvl="1"/>
            <a:r>
              <a:t>**Approaches:**</a:t>
            </a:r>
          </a:p>
          <a:p>
            <a:pPr lvl="1"/>
            <a:r>
              <a:t>Use `*_type` entities to categorize other entities</a:t>
            </a:r>
          </a:p>
          <a:p>
            <a:pPr lvl="1"/>
            <a:r>
              <a:t>Support dynamic addition of new types without schema changes</a:t>
            </a:r>
          </a:p>
          <a:p>
            <a:pPr lvl="1"/>
            <a:r>
              <a:t>Enable hierarchical classifications</a:t>
            </a:r>
          </a:p>
          <a:p>
            <a:pPr lvl="1"/>
            <a:r>
              <a:t>Support multiple classification schemes</a:t>
            </a:r>
          </a:p>
          <a:p>
            <a:pPr lvl="1"/>
            <a:r>
              <a:t>**Example:**</a:t>
            </a:r>
          </a:p>
          <a:p>
            <a:pPr lvl="1"/>
            <a:r>
              <a:t>`Party_Type`: Individual, Organization, Government Agency, etc.</a:t>
            </a:r>
          </a:p>
          <a:p>
            <a:pPr lvl="1"/>
            <a:r>
              <a:t>`Product_Type`: Electronics, Clothing, Food, etc.</a:t>
            </a:r>
          </a:p>
          <a:p>
            <a:pPr lvl="1"/>
            <a:r>
              <a:t>`Relationship_Type`: Employment, Partnership, Ownership, etc.</a:t>
            </a:r>
          </a:p>
          <a:p>
            <a:pPr lvl="1"/>
            <a:r>
              <a:t>```yml</a:t>
            </a:r>
          </a:p>
          <a:p>
            <a:pPr lvl="1"/>
            <a:r>
              <a:t>id: conceptual.party_type</a:t>
            </a:r>
          </a:p>
          <a:p>
            <a:pPr lvl="1"/>
            <a:r>
              <a:t>label: Party Type</a:t>
            </a:r>
          </a:p>
          <a:p>
            <a:pPr lvl="1"/>
            <a:r>
              <a:t>name: conceptual.party_type</a:t>
            </a:r>
          </a:p>
          <a:p>
            <a:pPr lvl="1"/>
            <a:r>
              <a:t>description: The type of parties</a:t>
            </a:r>
          </a:p>
          <a:p>
            <a:pPr lvl="1"/>
            <a:r>
              <a:t>area: ''</a:t>
            </a:r>
          </a:p>
          <a:p>
            <a:pPr lvl="1"/>
            <a:r>
              <a:t>entitytype: type</a:t>
            </a:r>
          </a:p>
          <a:p>
            <a:pPr lvl="1"/>
            <a:r>
              <a:t>entitytypevalues:</a:t>
            </a:r>
          </a:p>
          <a:p>
            <a:pPr lvl="1"/>
            <a:r>
              <a:t>organisation</a:t>
            </a:r>
          </a:p>
          <a:p>
            <a:pPr lvl="1"/>
            <a:r>
              <a:t>location</a:t>
            </a:r>
          </a:p>
          <a:p>
            <a:pPr lvl="1"/>
            <a:r>
              <a:t>contact</a:t>
            </a:r>
          </a:p>
          <a:p>
            <a:pPr lvl="1"/>
            <a:r>
              <a:t>employee</a:t>
            </a:r>
          </a:p>
          <a:p>
            <a:pPr lvl="1"/>
            <a:r>
              <a:t>organisational unit</a:t>
            </a:r>
          </a:p>
          <a:p>
            <a:pPr lvl="1"/>
            <a:r>
              <a:t>statutory contact</a:t>
            </a:r>
          </a:p>
          <a:p>
            <a:pPr lvl="1"/>
            <a:r>
              <a:t>organisation group</a:t>
            </a:r>
          </a:p>
          <a:p>
            <a:pPr lvl="1"/>
            <a:r>
              <a:t>tags:</a:t>
            </a:r>
          </a:p>
          <a:p>
            <a:pPr lvl="1"/>
            <a:r>
              <a:t>party</a:t>
            </a:r>
          </a:p>
          <a:p>
            <a:pPr lvl="1"/>
            <a:r>
              <a:t>relationships:</a:t>
            </a:r>
          </a:p>
          <a:p>
            <a:pPr lvl="1"/>
            <a:r>
              <a:t>id: conceptual.rel.party_type_to_party</a:t>
            </a:r>
          </a:p>
          <a:p>
            <a:pPr lvl="1"/>
            <a:r>
              <a:t>label: classifies</a:t>
            </a:r>
          </a:p>
          <a:p>
            <a:pPr lvl="1"/>
            <a:r>
              <a:t>name: party_identification_type_to_party_identification</a:t>
            </a:r>
          </a:p>
          <a:p>
            <a:pPr lvl="1"/>
            <a:r>
              <a:t>description: Party Type to Party</a:t>
            </a:r>
          </a:p>
          <a:p>
            <a:pPr lvl="1"/>
            <a:r>
              <a:t>source: conceptual.party_type</a:t>
            </a:r>
          </a:p>
          <a:p>
            <a:pPr lvl="1"/>
            <a:r>
              <a:t>target: conceptual.party</a:t>
            </a:r>
          </a:p>
          <a:p>
            <a:pPr lvl="1"/>
            <a:r>
              <a:t>cardinality: 1:N</a:t>
            </a:r>
          </a:p>
          <a:p>
            <a:pPr lvl="1"/>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7. Sub- and Supertype Pattern</a:t>
            </a:r>
          </a:p>
        </p:txBody>
      </p:sp>
      <p:sp>
        <p:nvSpPr>
          <p:cNvPr id="3" name="Content Placeholder 2"/>
          <p:cNvSpPr>
            <a:spLocks noGrp="1"/>
          </p:cNvSpPr>
          <p:nvPr>
            <p:ph idx="1"/>
          </p:nvPr>
        </p:nvSpPr>
        <p:spPr/>
        <p:txBody>
          <a:bodyPr/>
          <a:lstStyle/>
          <a:p>
            <a:r>
              <a:t>The sub- and supertype pattern is a core abstraction technique in Silverston's approach, borrowed from object-oriented design and applied to relational data modeling. It allows a **single generic entity (supertype)** to represent shared attributes while **specialized entities (subtypes)** extend it with attributes unique to that variant.</a:t>
            </a:r>
          </a:p>
          <a:p>
            <a:pPr lvl="1"/>
            <a:r>
              <a:t>**How it works:**</a:t>
            </a:r>
          </a:p>
          <a:p>
            <a:pPr lvl="1"/>
            <a:r>
              <a:t>The **supertype** holds attributes common to all instances (e.g., `party_id`, `name`, `from_date`)</a:t>
            </a:r>
          </a:p>
          <a:p>
            <a:pPr lvl="1"/>
            <a:r>
              <a:t>Each **subtype** holds only the attributes specific to that variant (e.g., `date_of_birth` on `Person`, `registration_number` on `Organisation`)</a:t>
            </a:r>
          </a:p>
          <a:p>
            <a:pPr lvl="1"/>
            <a:r>
              <a:t>The subtype shares the same primary key as the supertype, forming a one-to-one relationship</a:t>
            </a:r>
          </a:p>
          <a:p>
            <a:pPr lvl="1"/>
            <a:r>
              <a:t>A **type discriminator** column on the supertype (e.g., `party_type`) indicates which subtype applies</a:t>
            </a:r>
          </a:p>
          <a:p>
            <a:pPr lvl="1"/>
            <a:r>
              <a:t>**Example — Party hierarchy:**</a:t>
            </a:r>
          </a:p>
          <a:p>
            <a:pPr lvl="1"/>
            <a:r>
              <a:t>```</a:t>
            </a:r>
          </a:p>
          <a:p>
            <a:pPr lvl="1"/>
            <a:r>
              <a:t>Party (supertype)</a:t>
            </a:r>
          </a:p>
          <a:p>
            <a:pPr lvl="1"/>
            <a:r>
              <a:t>├─ party_id       PK</a:t>
            </a:r>
          </a:p>
          <a:p>
            <a:pPr lvl="1"/>
            <a:r>
              <a:t>├─ party_type     discriminator: 'Person' | 'Organisation'</a:t>
            </a:r>
          </a:p>
          <a:p>
            <a:pPr lvl="1"/>
            <a:r>
              <a:t>├─ name</a:t>
            </a:r>
          </a:p>
          <a:p>
            <a:pPr lvl="1"/>
            <a:r>
              <a:t>└─ from_date / thru_date</a:t>
            </a:r>
          </a:p>
          <a:p>
            <a:pPr lvl="1"/>
            <a:r>
              <a:t>Person (subtype of Party)</a:t>
            </a:r>
          </a:p>
          <a:p>
            <a:pPr lvl="1"/>
            <a:r>
              <a:t>├─ party_id       FK → Party</a:t>
            </a:r>
          </a:p>
          <a:p>
            <a:pPr lvl="1"/>
            <a:r>
              <a:t>├─ date_of_birth</a:t>
            </a:r>
          </a:p>
          <a:p>
            <a:pPr lvl="1"/>
            <a:r>
              <a:t>└─ gender</a:t>
            </a:r>
          </a:p>
          <a:p>
            <a:pPr lvl="1"/>
            <a:r>
              <a:t>Organisation (subtype of Party)</a:t>
            </a:r>
          </a:p>
          <a:p>
            <a:pPr lvl="1"/>
            <a:r>
              <a:t>├─ party_id       FK → Party</a:t>
            </a:r>
          </a:p>
          <a:p>
            <a:pPr lvl="1"/>
            <a:r>
              <a:t>├─ registration_number</a:t>
            </a:r>
          </a:p>
          <a:p>
            <a:pPr lvl="1"/>
            <a:r>
              <a:t>└─ legal_form</a:t>
            </a:r>
          </a:p>
          <a:p>
            <a:pPr lvl="1"/>
            <a:r>
              <a:t>```</a:t>
            </a:r>
          </a:p>
          <a:p>
            <a:pPr lvl="1"/>
            <a:r>
              <a:t>**When to use subtypes:**</a:t>
            </a:r>
          </a:p>
          <a:p>
            <a:pPr lvl="1"/>
            <a:r>
              <a:t>When two or more variants share a significant set of common attributes</a:t>
            </a:r>
          </a:p>
          <a:p>
            <a:pPr lvl="1"/>
            <a:r>
              <a:t>When the variants participate in different relationships or business rules</a:t>
            </a:r>
          </a:p>
          <a:p>
            <a:pPr lvl="1"/>
            <a:r>
              <a:t>When you need to query all instances of the supertype generically (e.g., "all parties involved in a case")</a:t>
            </a:r>
          </a:p>
          <a:p>
            <a:pPr lvl="1"/>
            <a:r>
              <a:t>When subtypes need to be independently extensible without affecting the supertype</a:t>
            </a:r>
          </a:p>
          <a:p>
            <a:pPr lvl="1"/>
            <a:r>
              <a:t>**Design rules:**</a:t>
            </a:r>
          </a:p>
          <a:p>
            <a:pPr lvl="1"/>
            <a:r>
              <a:t>**Completeness**: Every instance of the supertype must belong to at least one subtype (total specialization)</a:t>
            </a:r>
          </a:p>
          <a:p>
            <a:pPr lvl="1"/>
            <a:r>
              <a:t>**Disjointness**: An instance should belong to only one subtype at a time (disjoint subtypes), unless overlapping subtypes are explicitly modelled</a:t>
            </a:r>
          </a:p>
          <a:p>
            <a:pPr lvl="1"/>
            <a:r>
              <a:t>**Stability**: Supertype attributes should be truly universal — if an attribute only applies to one subtype, push it down</a:t>
            </a:r>
          </a:p>
          <a:p>
            <a:pPr lvl="1"/>
            <a:r>
              <a:t>**Avoid deep hierarchies**: More than two or three levels of inheritance adds complexity without proportional benefit</a:t>
            </a:r>
          </a:p>
          <a:p>
            <a:pPr lvl="1"/>
            <a:r>
              <a:t>**Benefits:**</a:t>
            </a:r>
          </a:p>
          <a:p>
            <a:pPr lvl="1"/>
            <a:r>
              <a:t>Eliminates repeating nullable columns across a wide, flat table</a:t>
            </a:r>
          </a:p>
          <a:p>
            <a:pPr lvl="1"/>
            <a:r>
              <a:t>Enables generic queries at the supertype level and specific queries at the subtype level</a:t>
            </a:r>
          </a:p>
          <a:p>
            <a:pPr lvl="1"/>
            <a:r>
              <a:t>Keeps the model extensible — new subtypes can be added without altering existing tables</a:t>
            </a:r>
          </a:p>
          <a:p>
            <a:pPr lvl="1"/>
            <a:r>
              <a:t>Clearly communicates the relationship between shared and specialised concepts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8. Relationship-Centric Design</a:t>
            </a:r>
          </a:p>
        </p:txBody>
      </p:sp>
      <p:sp>
        <p:nvSpPr>
          <p:cNvPr id="3" name="Content Placeholder 2"/>
          <p:cNvSpPr>
            <a:spLocks noGrp="1"/>
          </p:cNvSpPr>
          <p:nvPr>
            <p:ph idx="1"/>
          </p:nvPr>
        </p:nvSpPr>
        <p:spPr/>
        <p:txBody>
          <a:bodyPr/>
          <a:lstStyle/>
          <a:p>
            <a:r>
              <a:t>The framework provides sophisticated patterns for modeling complex relationships between entities.</a:t>
            </a:r>
          </a:p>
          <a:p>
            <a:pPr lvl="1"/>
            <a:r>
              <a:t>**Key Patterns:**</a:t>
            </a:r>
          </a:p>
          <a:p>
            <a:pPr lvl="1"/>
            <a:r>
              <a:t>**Many-to-Many Relationships**: Using associative entities with additional attributes</a:t>
            </a:r>
          </a:p>
          <a:p>
            <a:pPr lvl="1"/>
            <a:r>
              <a:t>**Recursive Relationships**: Entities related to themselves (e.g., organizational hierarchies)</a:t>
            </a:r>
          </a:p>
          <a:p>
            <a:pPr lvl="1"/>
            <a:r>
              <a:t>**Relationship Types**: Categorizing relationships for flexibility</a:t>
            </a:r>
          </a:p>
          <a:p>
            <a:pPr lvl="1"/>
            <a:r>
              <a:t>**N-ary Relationships**: Relationships involving more than two entities</a:t>
            </a:r>
          </a:p>
          <a:p>
            <a:pPr lvl="1"/>
            <a:r>
              <a:t>**Example from this EDM conceptual YAML:**</a:t>
            </a:r>
          </a:p>
          <a:p>
            <a:pPr lvl="1"/>
            <a:r>
              <a:t>The model applies relationship-centric design by separating the **relationship instance** from its **relationship type** and by using associative entities.</a:t>
            </a:r>
          </a:p>
          <a:p>
            <a:pPr lvl="1"/>
            <a:r>
              <a:t>```yaml</a:t>
            </a:r>
          </a:p>
          <a:p>
            <a:pPr lvl="1"/>
            <a:r>
              <a:t>id: conceptual.party_relationship_type</a:t>
            </a:r>
          </a:p>
          <a:p>
            <a:pPr lvl="1"/>
            <a:r>
              <a:t>entitytype: type</a:t>
            </a:r>
          </a:p>
          <a:p>
            <a:pPr lvl="1"/>
            <a:r>
              <a:t>relationships:</a:t>
            </a:r>
          </a:p>
          <a:p>
            <a:pPr lvl="1"/>
            <a:r>
              <a:t>id: conceptual.rel.party_relationship_type_to_party_relationship</a:t>
            </a:r>
          </a:p>
          <a:p>
            <a:pPr lvl="1"/>
            <a:r>
              <a:t>source: conceptual.party_relationship_type</a:t>
            </a:r>
          </a:p>
          <a:p>
            <a:pPr lvl="1"/>
            <a:r>
              <a:t>target: conceptual.party_relationship</a:t>
            </a:r>
          </a:p>
          <a:p>
            <a:pPr lvl="1"/>
            <a:r>
              <a:t>cardinality: 1:N</a:t>
            </a:r>
          </a:p>
          <a:p>
            <a:pPr lvl="1"/>
            <a:r>
              <a:t>id: conceptual.party_relationship</a:t>
            </a:r>
          </a:p>
          <a:p>
            <a:pPr lvl="1"/>
            <a:r>
              <a:t>entitytype: regular</a:t>
            </a:r>
          </a:p>
          <a:p>
            <a:pPr lvl="1"/>
            <a:r>
              <a:t>id: conceptual.party_roles</a:t>
            </a:r>
          </a:p>
          <a:p>
            <a:pPr lvl="1"/>
            <a:r>
              <a:t>relationships:</a:t>
            </a:r>
          </a:p>
          <a:p>
            <a:pPr lvl="1"/>
            <a:r>
              <a:t>id: conceptual.rel.party_roles_to_party_relationship1</a:t>
            </a:r>
          </a:p>
          <a:p>
            <a:pPr lvl="1"/>
            <a:r>
              <a:t>source: conceptual.party_roles</a:t>
            </a:r>
          </a:p>
          <a:p>
            <a:pPr lvl="1"/>
            <a:r>
              <a:t>target: conceptual.party_relationship</a:t>
            </a:r>
          </a:p>
          <a:p>
            <a:pPr lvl="1"/>
            <a:r>
              <a:t>cardinality: 1:N</a:t>
            </a:r>
          </a:p>
          <a:p>
            <a:pPr lvl="1"/>
            <a:r>
              <a:t>id: conceptual.rel.party_roles_to_party_relationship2</a:t>
            </a:r>
          </a:p>
          <a:p>
            <a:pPr lvl="1"/>
            <a:r>
              <a:t>source: conceptual.party_roles</a:t>
            </a:r>
          </a:p>
          <a:p>
            <a:pPr lvl="1"/>
            <a:r>
              <a:t>target: conceptual.party_relationship</a:t>
            </a:r>
          </a:p>
          <a:p>
            <a:pPr lvl="1"/>
            <a:r>
              <a:t>cardinality: 1:N</a:t>
            </a:r>
          </a:p>
          <a:p>
            <a:pPr lvl="1"/>
            <a:r>
              <a:t>```</a:t>
            </a:r>
          </a:p>
          <a:p>
            <a:pPr lvl="1"/>
            <a:r>
              <a:t>This gives a flexible structure where:</a:t>
            </a:r>
          </a:p>
          <a:p>
            <a:pPr lvl="1"/>
            <a:r>
              <a:t>`party_relationship_type` defines the semantic meaning (for example, "is employed by").</a:t>
            </a:r>
          </a:p>
          <a:p>
            <a:pPr lvl="1"/>
            <a:r>
              <a:t>`party_relationship` stores the actual relationship occurrence.</a:t>
            </a:r>
          </a:p>
          <a:p>
            <a:pPr lvl="1"/>
            <a:r>
              <a:t>`party_roles` links participating parties to that relationship (each role path modeled explicitly).</a:t>
            </a:r>
          </a:p>
          <a:p>
            <a:pPr lvl="1"/>
            <a:r>
              <a:t>In Silverston terms, this is preferable to hard-coding a single FK on `party` because it supports:</a:t>
            </a:r>
          </a:p>
          <a:p>
            <a:pPr lvl="1"/>
            <a:r>
              <a:t>Multiple relationship semantics without schema changes</a:t>
            </a:r>
          </a:p>
          <a:p>
            <a:pPr lvl="1"/>
            <a:r>
              <a:t>History and auditing on relationship instances</a:t>
            </a:r>
          </a:p>
          <a:p>
            <a:pPr lvl="1"/>
            <a:r>
              <a:t>Additional attributes on the relationship itself (status, dates, source system)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9. Party Model Pattern</a:t>
            </a:r>
          </a:p>
        </p:txBody>
      </p:sp>
      <p:sp>
        <p:nvSpPr>
          <p:cNvPr id="3" name="Content Placeholder 2"/>
          <p:cNvSpPr>
            <a:spLocks noGrp="1"/>
          </p:cNvSpPr>
          <p:nvPr>
            <p:ph idx="1"/>
          </p:nvPr>
        </p:nvSpPr>
        <p:spPr/>
        <p:txBody>
          <a:bodyPr/>
          <a:lstStyle/>
          <a:p>
            <a:r>
              <a:t>One of the most fundamental patterns is the **Party** concept, which provides a flexible way to model people, organizations, and their relationships.</a:t>
            </a:r>
          </a:p>
          <a:p>
            <a:pPr lvl="1"/>
            <a:r>
              <a:t>**Core Concepts:**</a:t>
            </a:r>
          </a:p>
          <a:p>
            <a:pPr lvl="1"/>
            <a:r>
              <a:t>**Party**: A generic entity representing any person or organization</a:t>
            </a:r>
          </a:p>
          <a:p>
            <a:pPr lvl="1"/>
            <a:r>
              <a:t>**Party Relationship**: Captures relationships between parties (e.g., employment, partnerships, family)</a:t>
            </a:r>
          </a:p>
          <a:p>
            <a:pPr lvl="1"/>
            <a:r>
              <a:t>**Party Role**: Defines the roles parties play in different contexts (e.g., customer, supplier, employee)</a:t>
            </a:r>
          </a:p>
          <a:p>
            <a:pPr lvl="1"/>
            <a:r>
              <a:t>**Party Contact**: Manages contact mechanisms (phone, email, address)</a:t>
            </a:r>
          </a:p>
          <a:p>
            <a:pPr lvl="1"/>
            <a:r>
              <a:t>This pattern eliminates the need for separate, rigid tables for customers, employees, vendors, etc., allowing the same party to have multiple roles over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10. Work Effort Pattern</a:t>
            </a:r>
          </a:p>
        </p:txBody>
      </p:sp>
      <p:sp>
        <p:nvSpPr>
          <p:cNvPr id="3" name="Content Placeholder 2"/>
          <p:cNvSpPr>
            <a:spLocks noGrp="1"/>
          </p:cNvSpPr>
          <p:nvPr>
            <p:ph idx="1"/>
          </p:nvPr>
        </p:nvSpPr>
        <p:spPr/>
        <p:txBody>
          <a:bodyPr/>
          <a:lstStyle/>
          <a:p>
            <a:r>
              <a:t>This pattern provides a universal way to model activities, projects, tasks, and cases.</a:t>
            </a:r>
          </a:p>
          <a:p>
            <a:pPr lvl="1"/>
            <a:r>
              <a:t>**Core Entities:**</a:t>
            </a:r>
          </a:p>
          <a:p>
            <a:pPr lvl="1"/>
            <a:r>
              <a:t>**Work Effort**: Generic entity for any unit of work</a:t>
            </a:r>
          </a:p>
          <a:p>
            <a:pPr lvl="1"/>
            <a:r>
              <a:t>**Work Effort Type**: Categories like project, task, case, activity</a:t>
            </a:r>
          </a:p>
          <a:p>
            <a:pPr lvl="1"/>
            <a:r>
              <a:t>**Work Effort Relationship**: Links between work efforts (dependencies, hierarchies)</a:t>
            </a:r>
          </a:p>
          <a:p>
            <a:pPr lvl="1"/>
            <a:r>
              <a:t>**Work Effort Party Assignment**: Who is assigned to what work</a:t>
            </a:r>
          </a:p>
          <a:p>
            <a:pPr lvl="1"/>
            <a:r>
              <a:t>**Work Effort Status**: Tracks the state of work (planned, in-progress, completed)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10. Identification Patterns</a:t>
            </a:r>
          </a:p>
        </p:txBody>
      </p:sp>
      <p:sp>
        <p:nvSpPr>
          <p:cNvPr id="3" name="Content Placeholder 2"/>
          <p:cNvSpPr>
            <a:spLocks noGrp="1"/>
          </p:cNvSpPr>
          <p:nvPr>
            <p:ph idx="1"/>
          </p:nvPr>
        </p:nvSpPr>
        <p:spPr/>
        <p:txBody>
          <a:bodyPr/>
          <a:lstStyle/>
          <a:p>
            <a:r>
              <a:t>Robust patterns for managing multiple identifiers for the same entity.</a:t>
            </a:r>
          </a:p>
          <a:p>
            <a:pPr lvl="1"/>
            <a:r>
              <a:t>**Capabilities:**</a:t>
            </a:r>
          </a:p>
          <a:p>
            <a:pPr lvl="1"/>
            <a:r>
              <a:t>Support multiple identification schemes (SSN, Tax ID, Employee ID, etc.)</a:t>
            </a:r>
          </a:p>
          <a:p>
            <a:pPr lvl="1"/>
            <a:r>
              <a:t>Track identification validity periods</a:t>
            </a:r>
          </a:p>
          <a:p>
            <a:pPr lvl="1"/>
            <a:r>
              <a:t>Classify identification types</a:t>
            </a:r>
          </a:p>
          <a:p>
            <a:pPr lvl="1"/>
            <a:r>
              <a:t>Maintain historical identification information</a:t>
            </a:r>
          </a:p>
          <a:p>
            <a:pPr lvl="1"/>
            <a:r>
              <a:t>1. **Reduced Development Time**: Leverage proven patterns instead of reinventing solutions</a:t>
            </a:r>
          </a:p>
          <a:p>
            <a:pPr lvl="1"/>
            <a:r>
              <a:t>2. **Improved Data Quality**: Standardized structures reduce errors and inconsistencies</a:t>
            </a:r>
          </a:p>
          <a:p>
            <a:pPr lvl="1"/>
            <a:r>
              <a:t>3. **Enhanced Flexibility**: Models adapt to changing business requirements</a:t>
            </a:r>
          </a:p>
          <a:p>
            <a:pPr lvl="1"/>
            <a:r>
              <a:t>4. **Better Integration**: Consistent patterns facilitate system integration</a:t>
            </a:r>
          </a:p>
          <a:p>
            <a:pPr lvl="1"/>
            <a:r>
              <a:t>5. **Clearer Communication**: Standard terminology bridges business and IT</a:t>
            </a:r>
          </a:p>
          <a:p>
            <a:pPr lvl="1"/>
            <a:r>
              <a:t>6. **Future-Proofing**: Extensible design accommodates growth and change</a:t>
            </a:r>
          </a:p>
          <a:p>
            <a:pPr lvl="1"/>
            <a:r>
              <a:t>7. **Knowledge Transfer**: Well-documented patterns ease onboarding and maintenance</a:t>
            </a:r>
          </a:p>
          <a:p>
            <a:pPr lvl="1"/>
            <a:r>
              <a:t>When implementing Universal Data Models:</a:t>
            </a:r>
          </a:p>
          <a:p>
            <a:pPr lvl="1"/>
            <a:r>
              <a:t>1. **Start with Core Patterns**: Implement foundational patterns (Party, Product, Work Effort) first</a:t>
            </a:r>
          </a:p>
          <a:p>
            <a:pPr lvl="1"/>
            <a:r>
              <a:t>2. **Customize Appropriately**: Adapt patterns to specific business needs without losing core benefits</a:t>
            </a:r>
          </a:p>
          <a:p>
            <a:pPr lvl="1"/>
            <a:r>
              <a:t>3. **Balance Flexibility and Complexity**: Not every model needs maximum flexibility</a:t>
            </a:r>
          </a:p>
          <a:p>
            <a:pPr lvl="1"/>
            <a:r>
              <a:t>4. **Document Deviations**: When departing from standard patterns, document why</a:t>
            </a:r>
          </a:p>
          <a:p>
            <a:pPr lvl="1"/>
            <a:r>
              <a:t>5. **Consider Performance**: May need to add indexes or denormalize for specific use cases</a:t>
            </a:r>
          </a:p>
          <a:p>
            <a:pPr lvl="1"/>
            <a:r>
              <a:t>6. **Train Teams**: Ensure data modelers and developers understand the patterns</a:t>
            </a:r>
          </a:p>
          <a:p>
            <a:pPr lvl="1"/>
            <a:r>
              <a:t>7. **Iterate**: Implement incrementally and refine based on feedback</a:t>
            </a:r>
          </a:p>
          <a:p>
            <a:pPr lvl="1"/>
            <a:r>
              <a:t>Silverston, L. (2001). *The Data Model Resource Book, Volume 1: A Library of Universal Data Models for All Enterprises*</a:t>
            </a:r>
          </a:p>
          <a:p>
            <a:pPr lvl="1"/>
            <a:r>
              <a:t>Silverston, L. (2001). *The Data Model Resource Book, Volume 2: A Library of Data Models for Specific Industries*</a:t>
            </a:r>
          </a:p>
          <a:p>
            <a:pPr lvl="1"/>
            <a:r>
              <a:t>Silverston, L., &amp; Agnew, P. (2008). *The Data Model Resource Book, Volume 3: Universal Patterns for Data Modeling*</a:t>
            </a:r>
          </a:p>
          <a:p>
            <a:pPr lvl="1"/>
          </a:p>
          <a:p>
            <a:pPr lvl="1"/>
            <a:r>
              <a:t>*This document provides the foundational concepts used in our EDM data platform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