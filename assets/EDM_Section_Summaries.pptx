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200"/>
            </a:pPr>
            <a:r>
              <a:t>EDM Modelling Approach</a:t>
            </a:r>
          </a:p>
        </p:txBody>
      </p:sp>
      <p:sp>
        <p:nvSpPr>
          <p:cNvPr id="3" name="Subtitle 2"/>
          <p:cNvSpPr>
            <a:spLocks noGrp="1"/>
          </p:cNvSpPr>
          <p:nvPr>
            <p:ph type="subTitle" idx="1"/>
          </p:nvPr>
        </p:nvSpPr>
        <p:spPr/>
        <p:txBody>
          <a:bodyPr/>
          <a:lstStyle/>
          <a:p>
            <a:r>
              <a:t>Section Summaries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1. Universal Patterns</a:t>
            </a:r>
          </a:p>
        </p:txBody>
      </p:sp>
      <p:sp>
        <p:nvSpPr>
          <p:cNvPr id="3" name="Content Placeholder 2"/>
          <p:cNvSpPr>
            <a:spLocks noGrp="1"/>
          </p:cNvSpPr>
          <p:nvPr>
            <p:ph idx="1"/>
          </p:nvPr>
        </p:nvSpPr>
        <p:spPr/>
        <p:txBody>
          <a:bodyPr/>
          <a:lstStyle/>
          <a:p>
            <a:r>
              <a:t>Universal Data Models provide proven, reusable data model patterns that can be applied across different industries and business contexts. Rather than building models from scratch, these patterns offer templates that have been refined through years of real-world implementation.</a:t>
            </a:r>
          </a:p>
          <a:p>
            <a:pPr lvl="1"/>
            <a:r>
              <a:t>**Key Benefits:**</a:t>
            </a:r>
          </a:p>
          <a:p>
            <a:pPr lvl="1"/>
            <a:r>
              <a:t>- Reduces design time and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2. Industry Agnostic Design</a:t>
            </a:r>
          </a:p>
        </p:txBody>
      </p:sp>
      <p:sp>
        <p:nvSpPr>
          <p:cNvPr id="3" name="Content Placeholder 2"/>
          <p:cNvSpPr>
            <a:spLocks noGrp="1"/>
          </p:cNvSpPr>
          <p:nvPr>
            <p:ph idx="1"/>
          </p:nvPr>
        </p:nvSpPr>
        <p:spPr/>
        <p:txBody>
          <a:bodyPr/>
          <a:lstStyle/>
          <a:p>
            <a:r>
              <a:t>The patterns are designed to be **adapted across various industries**:</a:t>
            </a:r>
          </a:p>
          <a:p>
            <a:pPr lvl="1"/>
            <a:r>
              <a:t>- Financial Services</a:t>
            </a:r>
          </a:p>
          <a:p>
            <a:pPr lvl="1"/>
            <a:r>
              <a:t>- Healthcare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3. Generalization and Abstraction</a:t>
            </a:r>
          </a:p>
        </p:txBody>
      </p:sp>
      <p:sp>
        <p:nvSpPr>
          <p:cNvPr id="3" name="Content Placeholder 2"/>
          <p:cNvSpPr>
            <a:spLocks noGrp="1"/>
          </p:cNvSpPr>
          <p:nvPr>
            <p:ph idx="1"/>
          </p:nvPr>
        </p:nvSpPr>
        <p:spPr/>
        <p:txBody>
          <a:bodyPr/>
          <a:lstStyle/>
          <a:p>
            <a:r>
              <a:t>Silverston's approach uses **entity supertypes and subtypes** to create flexible, extensible models.</a:t>
            </a:r>
          </a:p>
          <a:p>
            <a:pPr lvl="1"/>
            <a:r>
              <a:t>**Principles:**</a:t>
            </a:r>
          </a:p>
          <a:p>
            <a:pPr lvl="1"/>
            <a:r>
              <a:t>- Create generic, high-level entities (supertypes) that capture common attributes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4 Data Normalization with Flexibility</a:t>
            </a:r>
          </a:p>
        </p:txBody>
      </p:sp>
      <p:sp>
        <p:nvSpPr>
          <p:cNvPr id="3" name="Content Placeholder 2"/>
          <p:cNvSpPr>
            <a:spLocks noGrp="1"/>
          </p:cNvSpPr>
          <p:nvPr>
            <p:ph idx="1"/>
          </p:nvPr>
        </p:nvSpPr>
        <p:spPr/>
        <p:txBody>
          <a:bodyPr/>
          <a:lstStyle/>
          <a:p>
            <a:r>
              <a:t>While following normalization principles (typically 3NF or higher), the models maintain flexibility for adaptation.</a:t>
            </a:r>
          </a:p>
          <a:p>
            <a:pPr lvl="1"/>
            <a:r>
              <a:t>**Balance:**</a:t>
            </a:r>
          </a:p>
          <a:p>
            <a:pPr lvl="1"/>
            <a:r>
              <a:t>- **Normalized**: Reduces redundancy and maintains data integrity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5. Temporal Patterns</a:t>
            </a:r>
          </a:p>
        </p:txBody>
      </p:sp>
      <p:sp>
        <p:nvSpPr>
          <p:cNvPr id="3" name="Content Placeholder 2"/>
          <p:cNvSpPr>
            <a:spLocks noGrp="1"/>
          </p:cNvSpPr>
          <p:nvPr>
            <p:ph idx="1"/>
          </p:nvPr>
        </p:nvSpPr>
        <p:spPr/>
        <p:txBody>
          <a:bodyPr/>
          <a:lstStyle/>
          <a:p>
            <a:r>
              <a:t>Universal Data Models emphasize proper handling of **time-dependent data** and historical tracking.</a:t>
            </a:r>
          </a:p>
          <a:p>
            <a:pPr lvl="1"/>
            <a:r>
              <a:t>**Techniques:**</a:t>
            </a:r>
          </a:p>
          <a:p>
            <a:pPr lvl="1"/>
            <a:r>
              <a:t>- **Effective Dating**: Use `from_date` to track validity periods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6. Type and Classification Patterns</a:t>
            </a:r>
          </a:p>
        </p:txBody>
      </p:sp>
      <p:sp>
        <p:nvSpPr>
          <p:cNvPr id="3" name="Content Placeholder 2"/>
          <p:cNvSpPr>
            <a:spLocks noGrp="1"/>
          </p:cNvSpPr>
          <p:nvPr>
            <p:ph idx="1"/>
          </p:nvPr>
        </p:nvSpPr>
        <p:spPr/>
        <p:txBody>
          <a:bodyPr/>
          <a:lstStyle/>
          <a:p>
            <a:r>
              <a:t>Rather than hard-coding categories, Silverston advocates for **flexible classification structures**.</a:t>
            </a:r>
          </a:p>
          <a:p>
            <a:pPr lvl="1"/>
            <a:r>
              <a:t>**Approaches:**</a:t>
            </a:r>
          </a:p>
          <a:p>
            <a:pPr lvl="1"/>
            <a:r>
              <a:t>- Use `*_type` entities to categorize other entities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7. Sub- and Supertype Pattern</a:t>
            </a:r>
          </a:p>
        </p:txBody>
      </p:sp>
      <p:sp>
        <p:nvSpPr>
          <p:cNvPr id="3" name="Content Placeholder 2"/>
          <p:cNvSpPr>
            <a:spLocks noGrp="1"/>
          </p:cNvSpPr>
          <p:nvPr>
            <p:ph idx="1"/>
          </p:nvPr>
        </p:nvSpPr>
        <p:spPr/>
        <p:txBody>
          <a:bodyPr/>
          <a:lstStyle/>
          <a:p>
            <a:r>
              <a:t>The sub- and supertype pattern is a core abstraction technique in Silverston's approach, borrowed from object-oriented design and applied to relational data modeling. It allows a **single generic entity (supertype)** to represent shared attributes while **specialized entities (subtypes)** extend it with attributes unique to that variant.</a:t>
            </a:r>
          </a:p>
          <a:p>
            <a:pPr lvl="1"/>
            <a:r>
              <a:t>**How it works:**</a:t>
            </a:r>
          </a:p>
          <a:p>
            <a:pPr lvl="1"/>
            <a:r>
              <a:t>- The **supertype** holds attributes common to all instances (e.g., `party_id`, `name`, `from_date`)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8. Relationship-Centric Design</a:t>
            </a:r>
          </a:p>
        </p:txBody>
      </p:sp>
      <p:sp>
        <p:nvSpPr>
          <p:cNvPr id="3" name="Content Placeholder 2"/>
          <p:cNvSpPr>
            <a:spLocks noGrp="1"/>
          </p:cNvSpPr>
          <p:nvPr>
            <p:ph idx="1"/>
          </p:nvPr>
        </p:nvSpPr>
        <p:spPr/>
        <p:txBody>
          <a:bodyPr/>
          <a:lstStyle/>
          <a:p>
            <a:r>
              <a:t>The framework provides sophisticated patterns for modeling complex relationships between entities.</a:t>
            </a:r>
          </a:p>
          <a:p>
            <a:pPr lvl="1"/>
            <a:r>
              <a:t>**Key Patterns:**</a:t>
            </a:r>
          </a:p>
          <a:p>
            <a:pPr lvl="1"/>
            <a:r>
              <a:t>- **Many-to-Many Relationships**: Using associative entities with additional attributes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9. Party Model Pattern</a:t>
            </a:r>
          </a:p>
        </p:txBody>
      </p:sp>
      <p:sp>
        <p:nvSpPr>
          <p:cNvPr id="3" name="Content Placeholder 2"/>
          <p:cNvSpPr>
            <a:spLocks noGrp="1"/>
          </p:cNvSpPr>
          <p:nvPr>
            <p:ph idx="1"/>
          </p:nvPr>
        </p:nvSpPr>
        <p:spPr/>
        <p:txBody>
          <a:bodyPr/>
          <a:lstStyle/>
          <a:p>
            <a:r>
              <a:t>One of the most fundamental patterns is the **Party** concept, which provides a flexible way to model people, organizations, and their relationships.</a:t>
            </a:r>
          </a:p>
          <a:p>
            <a:pPr lvl="1"/>
            <a:r>
              <a:t>**Core Concepts:**</a:t>
            </a:r>
          </a:p>
          <a:p>
            <a:pPr lvl="1"/>
            <a:r>
              <a:t>- **Party**: A generic entity representing any person or organization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10. Work Effort Pattern</a:t>
            </a:r>
          </a:p>
        </p:txBody>
      </p:sp>
      <p:sp>
        <p:nvSpPr>
          <p:cNvPr id="3" name="Content Placeholder 2"/>
          <p:cNvSpPr>
            <a:spLocks noGrp="1"/>
          </p:cNvSpPr>
          <p:nvPr>
            <p:ph idx="1"/>
          </p:nvPr>
        </p:nvSpPr>
        <p:spPr/>
        <p:txBody>
          <a:bodyPr/>
          <a:lstStyle/>
          <a:p>
            <a:r>
              <a:t>This pattern provides a universal way to model activities, projects, tasks, and cases.</a:t>
            </a:r>
          </a:p>
          <a:p>
            <a:pPr lvl="1"/>
            <a:r>
              <a:t>**Core Entities:**</a:t>
            </a:r>
          </a:p>
          <a:p>
            <a:pPr lvl="1"/>
            <a:r>
              <a:t>- **Work Effort**: Generic entity for any unit of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10. Identification Patterns</a:t>
            </a:r>
          </a:p>
        </p:txBody>
      </p:sp>
      <p:sp>
        <p:nvSpPr>
          <p:cNvPr id="3" name="Content Placeholder 2"/>
          <p:cNvSpPr>
            <a:spLocks noGrp="1"/>
          </p:cNvSpPr>
          <p:nvPr>
            <p:ph idx="1"/>
          </p:nvPr>
        </p:nvSpPr>
        <p:spPr/>
        <p:txBody>
          <a:bodyPr/>
          <a:lstStyle/>
          <a:p>
            <a:r>
              <a:t>Robust patterns for managing multiple identifiers for the same entity.</a:t>
            </a:r>
          </a:p>
          <a:p>
            <a:pPr lvl="1"/>
            <a:r>
              <a:t>**Capabilities:**</a:t>
            </a:r>
          </a:p>
          <a:p>
            <a:pPr lvl="1"/>
            <a:r>
              <a:t>- Support multiple identification schemes (SSN, Tax ID, Employee ID, etc.)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